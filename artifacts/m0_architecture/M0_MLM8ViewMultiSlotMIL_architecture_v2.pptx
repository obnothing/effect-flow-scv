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0da03ce3c8402a" /><Relationship Type="http://schemas.openxmlformats.org/officeDocument/2006/relationships/extended-properties" Target="/docProps/app.xml" Id="R6410fd5b1cc94752" /><Relationship Type="http://schemas.openxmlformats.org/officeDocument/2006/relationships/officeDocument" Target="/ppt/presentation.xml" Id="Ra94075550b51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bf470f69b64d45"/>
  </p:sldMasterIdLst>
  <p:notesMasterIdLst>
    <p:notesMasterId xmlns:r="http://schemas.openxmlformats.org/officeDocument/2006/relationships" r:id="R30ba968d3d5d4404"/>
  </p:notesMasterIdLst>
  <p:sldIdLst>
    <p:sldId xmlns:r="http://schemas.openxmlformats.org/officeDocument/2006/relationships" id="256" r:id="R86c2f63c028846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becbb32434167" /><Relationship Type="http://schemas.openxmlformats.org/officeDocument/2006/relationships/slideMaster" Target="/ppt/slideMasters/slideMaster1.xml" Id="R11bf470f69b64d45" /><Relationship Type="http://schemas.openxmlformats.org/officeDocument/2006/relationships/notesMaster" Target="/ppt/notesMasters/notesMaster1.xml" Id="R30ba968d3d5d4404" /><Relationship Type="http://schemas.openxmlformats.org/officeDocument/2006/relationships/presProps" Target="/ppt/presProps.xml" Id="R4b7afef1702e4e91" /><Relationship Type="http://schemas.openxmlformats.org/officeDocument/2006/relationships/tableStyles" Target="/ppt/tableStyles.xml" Id="R5a91ca91bb074311" /><Relationship Type="http://schemas.openxmlformats.org/officeDocument/2006/relationships/slide" Target="/ppt/slides/slide1.xml" Id="R86c2f63c0288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a84bf171445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f40a231c1a45e5" /><Relationship Type="http://schemas.openxmlformats.org/officeDocument/2006/relationships/notesMaster" Target="/ppt/notesMasters/notesMaster1.xml" Id="R5cbd2186724e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follows src/evm_chunk_mil_model.py::MLM8ViewMultiSlotMIL and configs/train_main6_process01_090.yaml, variant mlm8_slot3. All diagram objects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d848f46de46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7ae1c14c14d17" /><Relationship Type="http://schemas.openxmlformats.org/officeDocument/2006/relationships/slideLayout" Target="/ppt/slideLayouts/slideLayout1.xml" Id="R3ee643a91c134e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643a91c134e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65dc7a16b4711" /><Relationship Type="http://schemas.openxmlformats.org/officeDocument/2006/relationships/notesSlide" Target="/ppt/notesSlides/notesSlide1.xml" Id="R69f5521652e246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E7E25ED-8A56-4DEA-9624-14DBD4BE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"/>
            <a:ext cx="1419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M0: Label-Conditioned Multi-View Multi-Slot MIL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AD485-3AE8-4197-AD2A-1CF08CC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67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D6670"/>
                </a:solidFill>
                <a:latin typeface="Helvetica"/>
                <a:ea typeface="Helvetica"/>
                <a:cs typeface="Helvetica"/>
              </a:rPr>
              <a:t>process01 configuration: C=64 chunks, V=8 views, D=768, H=512, L=6 labels, S=3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00685-C73C-4903-B6CA-2100715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8-view Chunk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B92C9-9BE5-4511-B43F-8876C00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143000"/>
            <a:ext cx="542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332AE-EE38-49B1-934D-0BBA998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38275"/>
            <a:ext cx="542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860F2-BC1B-4B09-96F9-1C0EC7B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43000"/>
            <a:ext cx="1800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opcode chunks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FE9B3-D001-4293-91F7-DA4A1C3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438275"/>
            <a:ext cx="1800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X: (B,64,8,768)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7AB32-2E6A-4D88-9FD8-D41AAE3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Base View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46AA4-588F-416D-B700-0A95044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47875"/>
            <a:ext cx="542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093EC-129D-4EB8-8412-5F89769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542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C307A-F1E3-4DC8-A086-EE4E7AC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47875"/>
            <a:ext cx="1800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X: (B,64,8,768)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09C7B-1F54-4EA5-B316-3D43EC4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43150"/>
            <a:ext cx="1800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Xmean: (B,64,768)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6FAB9-6CED-4F55-AC95-1ED24CE2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92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Shared Chunk Encoder</a:t>
            </a:r>
          </a:p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LN + Linear + 2-layer Transformer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FFFE2-30A3-4525-8925-D77B86B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2750"/>
            <a:ext cx="542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FED54-8FC3-4912-91F7-8AE115D7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542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5AD0F-7321-4D97-AB55-3C5DD23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52750"/>
            <a:ext cx="1800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(B,64,768)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3BBAE-7948-46E0-A689-0886070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14700"/>
            <a:ext cx="1800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H: (B,64,512)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B4977-0DB8-4790-8C84-E73F29A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C"/>
          </a:solidFill>
          <a:ln xmlns:a="http://schemas.openxmlformats.org/drawingml/2006/main" w="19050">
            <a:solidFill>
              <a:srgbClr val="3B7A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8-view Projection</a:t>
            </a:r>
          </a:p>
          <a:p xmlns:a="http://schemas.openxmlformats.org/drawingml/2006/main">
            <a:pPr algn="ctr">
              <a:defRPr sz="12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LN + Linear + Key/Value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74709-CB2D-432A-8FD1-40EFA4D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43375"/>
            <a:ext cx="542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C"/>
          </a:solidFill>
          <a:ln xmlns:a="http://schemas.openxmlformats.org/drawingml/2006/main" w="19050">
            <a:solidFill>
              <a:srgbClr val="3B7A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F72FA-9471-4DEC-83ED-496FEE5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05325"/>
            <a:ext cx="542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C"/>
          </a:solidFill>
          <a:ln xmlns:a="http://schemas.openxmlformats.org/drawingml/2006/main" w="19050">
            <a:solidFill>
              <a:srgbClr val="3B7A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79E93-F83A-4F8B-AFC9-8DF0C32A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143375"/>
            <a:ext cx="1800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C"/>
          </a:solidFill>
          <a:ln xmlns:a="http://schemas.openxmlformats.org/drawingml/2006/main" w="19050">
            <a:solidFill>
              <a:srgbClr val="3B7A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(B,64,8,768)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413AA-514A-418B-A381-D594AAA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505325"/>
            <a:ext cx="1800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C"/>
          </a:solidFill>
          <a:ln xmlns:a="http://schemas.openxmlformats.org/drawingml/2006/main" w="19050">
            <a:solidFill>
              <a:srgbClr val="3B7A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3B7A57"/>
                </a:solidFill>
                <a:latin typeface="Helvetica"/>
                <a:ea typeface="Helvetica"/>
                <a:cs typeface="Helvetica"/>
              </a:rPr>
              <a:t>K,V: (B,64,8,512)</a:t>
            </a:r>
          </a:p>
        </p:txBody>
      </p:sp>
      <p:cxnSp>
        <p:nvCxnSpPr>
          <p:cNvPr id="135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590675" y="1733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36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590675" y="26384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37" name=""/>
          <p:cNvCxnSpPr>
            <a:stCxn xmlns:a="http://schemas.openxmlformats.org/drawingml/2006/main" id="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590675" y="1733550"/>
            <a:ext cx="0" cy="2409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B7A57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29245-B0A7-4FB5-A729-AB8DC2D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143000"/>
            <a:ext cx="1971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Label-Slot Queries</a:t>
            </a:r>
          </a:p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static q(l,s) + dynamic q(H)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DA4B0-5694-4037-9A5F-B77AE78E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14300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B4DA7-5637-4750-8990-E36DAC0F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50495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4D10A-A7F3-442B-82B2-104C5B65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430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H + Q: (B,64,6,3,512)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AAB81-D7C6-4E09-A598-2328E7A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Qls: (B,64,6,3,512)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EB9FD-FB9D-4D0C-823E-DFC64659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1971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Label-Conditioned View Attention</a:t>
            </a:r>
          </a:p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softmax over 8 views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0F83E6-C97C-495B-8D24-AD4DAE7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3837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A9434-E266-43F1-BE1B-A24B6611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0032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F7ABFA-45F9-4F7F-BB51-21B408B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Qls, K: (...,8,512)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AF34C-7B2E-4EAB-92C5-B40D508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032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Av: (B,64,6,3,8)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D264B4-7D55-4A7A-A964-B485E8DA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971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View Evidence Fusion</a:t>
            </a:r>
          </a:p>
          <a:p xmlns:a="http://schemas.openxmlformats.org/drawingml/2006/main">
            <a:pPr algn="ctr">
              <a:def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H + gamma(l,s) x weighted 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CDF00C-EA20-46B8-9937-ECEDA71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3375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31CC7D-6FB2-4C19-942E-8B8C6C27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95700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8F650-E353-4D58-B619-50DF782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Av,V,H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D877C-FBF5-45CB-8E72-702895FE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Echunk: (B,64,6,3,512)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54FBA9-F463-4F89-90EB-46D601AB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29125"/>
            <a:ext cx="1971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9707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Slot-wise Chunk Attention</a:t>
            </a:r>
          </a:p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softmax over 64 chunks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CCF0B4-E925-42CE-A222-E4A1816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2912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52F304-17B1-4701-991C-385AEFB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79107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3CD64-92D7-45F7-A22D-A04372C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Echunk: (B,64,6,3,512)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73BB22-9299-416A-8424-59D60FA0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9107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Ac: (B,64,6,3)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B7B75B-4530-461A-A687-44B1B72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1971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Per-Slot Evidence Pooling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26B8A9-DE68-406C-B115-7D42ACB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524500"/>
            <a:ext cx="581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C3105E-7483-4CDB-94D0-42C0317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819775"/>
            <a:ext cx="581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700495-27DC-49DF-B9DD-7ED3AFE2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24500"/>
            <a:ext cx="1924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Ac,Echunk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C0F1D8-0FBF-4A07-AA37-E975F31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19775"/>
            <a:ext cx="1924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9050">
            <a:solidFill>
              <a:srgbClr val="B2761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B27616"/>
                </a:solidFill>
                <a:latin typeface="Helvetica"/>
                <a:ea typeface="Helvetica"/>
                <a:cs typeface="Helvetica"/>
              </a:rPr>
              <a:t>R: (B,6,3,512)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FBEF58-C900-402A-A8C7-A965E68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29375"/>
            <a:ext cx="1971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Learned Slot Fusion</a:t>
            </a:r>
          </a:p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softmax over 3 slots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2516BE-D0A3-44D5-94E1-DF16C6F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42937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51B494-350B-4CA8-A631-7DB3151A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791325"/>
            <a:ext cx="581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24583A-B184-43D7-B00D-46C2AAF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2937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R: (B,6,3,512)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31835B-764E-4C29-A41A-094AA20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79132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Z: (B,6,512)</a:t>
            </a:r>
          </a:p>
        </p:txBody>
      </p:sp>
      <p:cxnSp>
        <p:nvCxnSpPr>
          <p:cNvPr id="168" name=""/>
          <p:cNvCxnSpPr>
            <a:stCxn xmlns:a="http://schemas.openxmlformats.org/drawingml/2006/main" id="26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510338" y="186690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3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510338" y="29622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70" name=""/>
          <p:cNvCxnSpPr>
            <a:stCxn xmlns:a="http://schemas.openxmlformats.org/drawingml/2006/main" id="36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6510338" y="40576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71" name=""/>
          <p:cNvCxnSpPr>
            <a:stCxn xmlns:a="http://schemas.openxmlformats.org/drawingml/2006/main" id="41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6510338" y="51530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72" name=""/>
          <p:cNvCxnSpPr>
            <a:stCxn xmlns:a="http://schemas.openxmlformats.org/drawingml/2006/main" id="46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6510338" y="61150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cxnSp>
        <p:nvCxnSpPr>
          <p:cNvPr id="173" name=""/>
          <p:cNvCxnSpPr>
            <a:stCxn xmlns:a="http://schemas.openxmlformats.org/drawingml/2006/main" id="1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2514600" y="1504950"/>
            <a:ext cx="300990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med" len="med"/>
          </a:ln>
        </p:spPr>
      </p:cxnSp>
      <p:cxnSp>
        <p:nvCxnSpPr>
          <p:cNvPr id="174" name=""/>
          <p:cNvCxnSpPr>
            <a:stCxn xmlns:a="http://schemas.openxmlformats.org/drawingml/2006/main" id="1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514600" y="2600325"/>
            <a:ext cx="3009900" cy="1905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B7A57"/>
            </a:solidFill>
            <a:prstDash val="solid"/>
            <a:tailEnd type="arrow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297083-7DBD-4088-829E-2B8741A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1049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Six Label-wise Prediction Heads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B22CC3-51B5-4626-B056-1D7B3F92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716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81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Reentrancy Head</a:t>
            </a:r>
          </a:p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59A8BD-0D59-40D6-8E7E-EFC82098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716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9EA974-CC38-45A5-9325-036DD3CF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9145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378A54-C74B-42F5-A181-0198996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5716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6993A7-48EB-4A19-AD72-ACFFAEE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9145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181" name=""/>
          <p:cNvCxnSpPr>
            <a:stCxn xmlns:a="http://schemas.openxmlformats.org/drawingml/2006/main" id="51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V="1">
            <a:off x="7496175" y="1914525"/>
            <a:ext cx="3076575" cy="487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1A1F"/>
            </a:solidFill>
            <a:prstDash val="solid"/>
            <a:tailEnd type="arrow" w="med" len="me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ACCCED-5F34-4CFB-BE7B-4F2E68AB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860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81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Access Control Head</a:t>
            </a:r>
          </a:p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F230AD-310F-4E6C-B783-F71307D2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4860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5C8496-ED57-47A8-B656-EAF0545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8289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886344-76CC-42AF-BD32-0F451A18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4860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2E2A3D-B829-45D6-9179-4873F3DF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289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187" name=""/>
          <p:cNvCxnSpPr>
            <a:stCxn xmlns:a="http://schemas.openxmlformats.org/drawingml/2006/main" id="51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7496175" y="2828925"/>
            <a:ext cx="3076575" cy="396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3383B4-A03D-4A27-B215-DA80E101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004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81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Arithmetic Head</a:t>
            </a:r>
          </a:p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2F528E-C7F8-48C2-AF57-6161C21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4004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5F04DA-DE4A-4BC3-A606-C5431031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7433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AF282C-8038-4774-8B96-46CA5D61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004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A4A0F7-BF29-4F83-94CB-12D2EFC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433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193" name=""/>
          <p:cNvCxnSpPr>
            <a:stCxn xmlns:a="http://schemas.openxmlformats.org/drawingml/2006/main" id="51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V="1">
            <a:off x="7496175" y="3743325"/>
            <a:ext cx="3076575" cy="3048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153089-C178-4554-9FA7-04B0626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148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7647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Unchecked Return Values Head</a:t>
            </a:r>
          </a:p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2229EE6-7C41-4691-BEE9-BBF8EEB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3148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D2C33C6-F9AD-47EB-A711-88299048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6577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77BF2B-D732-4FEF-A3E0-5F46744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3148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64648F6-8B4A-4CF1-B7E6-89909A1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6577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199" name=""/>
          <p:cNvCxnSpPr>
            <a:stCxn xmlns:a="http://schemas.openxmlformats.org/drawingml/2006/main" id="5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V="1">
            <a:off x="7496175" y="4657725"/>
            <a:ext cx="3076575" cy="2133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2C15C4-A3AE-4812-92A5-BA044EA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292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81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DoS Head</a:t>
            </a:r>
          </a:p>
          <a:p xmlns:a="http://schemas.openxmlformats.org/drawingml/2006/main">
            <a:pPr algn="ctr">
              <a:def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D6C9DF6-ECE0-4112-92A6-8A6C77BF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2292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63422E-0EAB-4DBA-85C7-0D205DA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5721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CB068A-3EC7-402F-9A6F-31AC9F2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292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0A5031-01D0-4E76-B824-3804D73C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721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E7"/>
          </a:solidFill>
          <a:ln xmlns:a="http://schemas.openxmlformats.org/drawingml/2006/main" w="19050">
            <a:solidFill>
              <a:srgbClr val="C6413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C64132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205" name=""/>
          <p:cNvCxnSpPr>
            <a:stCxn xmlns:a="http://schemas.openxmlformats.org/drawingml/2006/main" id="51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 flipV="1">
            <a:off x="7496175" y="5572125"/>
            <a:ext cx="3076575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64132"/>
            </a:solidFill>
            <a:prstDash val="dash"/>
            <a:tailEnd type="arrow" w="med" len="me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B6FFDF2-C0FC-4909-93BE-35FD41A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81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Time Manipulation Head</a:t>
            </a:r>
          </a:p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LN + Linear 512→256 + GELU + Dropout + Linear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EACA5A4-BF2E-46C7-B3D1-7B5BD94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1436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0BC3F5-2570-41FB-92F8-3C228E24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486525"/>
            <a:ext cx="52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DBE27A-342B-442B-860A-25EDE8A2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1436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Zl: (B,512)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143EAD-A4AB-4F87-B008-CC6402D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4865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A1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1A1F"/>
                </a:solidFill>
                <a:latin typeface="Helvetica"/>
                <a:ea typeface="Helvetica"/>
                <a:cs typeface="Helvetica"/>
              </a:rPr>
              <a:t>logit l: (B,1)</a:t>
            </a:r>
          </a:p>
        </p:txBody>
      </p:sp>
      <p:cxnSp>
        <p:nvCxnSpPr>
          <p:cNvPr id="211" name=""/>
          <p:cNvCxnSpPr>
            <a:stCxn xmlns:a="http://schemas.openxmlformats.org/drawingml/2006/main" id="51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 flipV="1">
            <a:off x="7496175" y="6486525"/>
            <a:ext cx="30765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E69A21-10EF-47AE-B446-C7AC9BCE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33425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Multi-label Output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D4EDC2-F0A1-4E21-B645-3514E75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334250"/>
            <a:ext cx="5238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In: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66D803-A55B-4CE7-861B-66B33B90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629525"/>
            <a:ext cx="5238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Out: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218554B-9C07-41BF-8246-BAD0A31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33425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6 logits: (B,6)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F66C43-EE43-4414-8501-DDD891D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62952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9050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76B87"/>
                </a:solidFill>
                <a:latin typeface="Helvetica"/>
                <a:ea typeface="Helvetica"/>
                <a:cs typeface="Helvetica"/>
              </a:rPr>
              <a:t>probabilities: (B,6)</a:t>
            </a:r>
          </a:p>
        </p:txBody>
      </p:sp>
      <p:cxnSp>
        <p:nvCxnSpPr>
          <p:cNvPr id="217" name=""/>
          <p:cNvCxnSpPr>
            <a:stCxn xmlns:a="http://schemas.openxmlformats.org/drawingml/2006/main" id="64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2257425"/>
            <a:ext cx="0" cy="507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70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3171825"/>
            <a:ext cx="0" cy="416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76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4086225"/>
            <a:ext cx="0" cy="3248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cxnSp>
        <p:nvCxnSpPr>
          <p:cNvPr id="220" name=""/>
          <p:cNvCxnSpPr>
            <a:stCxn xmlns:a="http://schemas.openxmlformats.org/drawingml/2006/main" id="82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5000625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cxnSp>
        <p:nvCxnSpPr>
          <p:cNvPr id="221" name=""/>
          <p:cNvCxnSpPr>
            <a:stCxn xmlns:a="http://schemas.openxmlformats.org/drawingml/2006/main" id="88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5915025"/>
            <a:ext cx="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cxnSp>
        <p:nvCxnSpPr>
          <p:cNvPr id="222" name=""/>
          <p:cNvCxnSpPr>
            <a:stCxn xmlns:a="http://schemas.openxmlformats.org/drawingml/2006/main" id="94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11453813" y="68294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A1F"/>
            </a:solidFill>
            <a:prstDash val="dash"/>
            <a:tailEnd type="arrow" w="med" len="me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993E637-3CDC-4E02-8E41-805F5030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8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0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5D6670"/>
                </a:solidFill>
                <a:latin typeface="Helvetica"/>
                <a:ea typeface="Helvetica"/>
                <a:cs typeface="Helvetica"/>
              </a:rPr>
              <a:t>View 0: CLS   View 1: masked mean   View 2: masked max   Views 3–7: five positional segment means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C23746-4E90-4E43-902F-FE262AB9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8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7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D6670"/>
                </a:solidFill>
                <a:latin typeface="Helvetica"/>
                <a:ea typeface="Helvetica"/>
                <a:cs typeface="Helvetica"/>
              </a:rPr>
              <a:t>B: batch size</a:t>
            </a:r>
          </a:p>
        </p:txBody>
      </p:sp>
    </p:spTree>
    <p:extLst>
      <p:ext uri="{BB962C8B-B14F-4D97-AF65-F5344CB8AC3E}">
        <p14:creationId xmlns:p14="http://schemas.microsoft.com/office/powerpoint/2010/main" val="234315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2026-09-08T12:43:55.6810000Z</dcterms:created>
  <dcterms:modified xsi:type="dcterms:W3CDTF">2026-09-08T12:43:55.6810000Z</dcterms:modified>
</coreProperties>
</file>