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ac7a6e28e44a0c" /><Relationship Type="http://schemas.openxmlformats.org/officeDocument/2006/relationships/extended-properties" Target="/docProps/app.xml" Id="Ra25859ae718344ad" /><Relationship Type="http://schemas.openxmlformats.org/officeDocument/2006/relationships/officeDocument" Target="/ppt/presentation.xml" Id="R94818038fe9141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9ca0bda33e4df8"/>
  </p:sldMasterIdLst>
  <p:notesMasterIdLst>
    <p:notesMasterId xmlns:r="http://schemas.openxmlformats.org/officeDocument/2006/relationships" r:id="Rec3efe86fefa4df7"/>
  </p:notesMasterIdLst>
  <p:sldIdLst>
    <p:sldId xmlns:r="http://schemas.openxmlformats.org/officeDocument/2006/relationships" id="256" r:id="R2c57b4d482ea453c"/>
  </p:sldIdLst>
  <p:sldSz cx="15240000" cy="1143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6b36c9104a4576" /><Relationship Type="http://schemas.openxmlformats.org/officeDocument/2006/relationships/slideMaster" Target="/ppt/slideMasters/slideMaster1.xml" Id="Re79ca0bda33e4df8" /><Relationship Type="http://schemas.openxmlformats.org/officeDocument/2006/relationships/notesMaster" Target="/ppt/notesMasters/notesMaster1.xml" Id="Rec3efe86fefa4df7" /><Relationship Type="http://schemas.openxmlformats.org/officeDocument/2006/relationships/presProps" Target="/ppt/presProps.xml" Id="Rfebb512b78c24083" /><Relationship Type="http://schemas.openxmlformats.org/officeDocument/2006/relationships/tableStyles" Target="/ppt/tableStyles.xml" Id="R1da2e051603745c2" /><Relationship Type="http://schemas.openxmlformats.org/officeDocument/2006/relationships/slide" Target="/ppt/slides/slide1.xml" Id="R2c57b4d482ea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570124bd634b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2d7dfeb4754222" /><Relationship Type="http://schemas.openxmlformats.org/officeDocument/2006/relationships/notesMaster" Target="/ppt/notesMasters/notesMaster1.xml" Id="R1f721ce2fa244e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Top-down architecture of MLM8ViewMultiSlotMIL using configs/train_main6_process01_090.yaml, variant mlm8_slot3. View 0 is CLS, view 1 is masked mean, view 2 is masked max, and views 3 to 7 are five positional segment means. All objects are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a54946be8e41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f47b72bb234289" /><Relationship Type="http://schemas.openxmlformats.org/officeDocument/2006/relationships/slideLayout" Target="/ppt/slideLayouts/slideLayout1.xml" Id="R2962e0fbc29a45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62e0fbc29a45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dca520f2c487e" /><Relationship Type="http://schemas.openxmlformats.org/officeDocument/2006/relationships/notesSlide" Target="/ppt/notesSlides/notesSlide1.xml" Id="R3423d4f5c60b41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75C33FD-463E-4DAC-B66B-AFACD572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14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M0 Model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35E6A-9A2E-4A7A-A0A7-62AE4137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3E32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C73E32"/>
                </a:solidFill>
                <a:latin typeface="Helvetica"/>
                <a:ea typeface="Helvetica"/>
                <a:cs typeface="Helvetica"/>
              </a:rPr>
              <a:t>Label-Conditioned Multi-View Multi-Slot MIL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43BC4-3A4A-471D-B0C3-1F2C33DD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382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Helvetica"/>
                <a:ea typeface="Helvetica"/>
                <a:cs typeface="Helvetica"/>
              </a:defRPr>
            </a:pPr>
            <a:r>
              <a:rPr sz="1050" b="0">
                <a:solidFill>
                  <a:srgbClr val="59636E"/>
                </a:solidFill>
                <a:latin typeface="Helvetica"/>
                <a:ea typeface="Helvetica"/>
                <a:cs typeface="Helvetica"/>
              </a:rPr>
              <a:t>B=batch size   C=64 chunks   V=8 views   D=768   H=512   L=6 labels   S=3 slots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2BAC5-D83C-44BC-A40B-0AB5E870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2668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DF7B3-8C8B-4BFE-B028-7E40A40F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90625"/>
            <a:ext cx="3810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Eight-view chunk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FF1F5-C428-4ABF-A530-34977414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906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050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Frozen EVM-BERT pooling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058CA-23A9-4F32-BD07-BAEC6F40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9062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In:  opcode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6AB59-1E92-4097-AAE6-06A8434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144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Out: X  (B,64,8,768)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D3278-F6C6-4F76-9ED8-1A2EC3BA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240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0B6B2-E192-45CF-8A6B-E7671F25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47875"/>
            <a:ext cx="3810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Feature 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D6941-8051-476B-97E5-D169E756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050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View 1 forms the base; all 8 views form K and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A40BC-B042-453A-9197-F5FC6750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478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In:  X  (B,64,8,768)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8F43E-88D3-447B-98D3-99A3A15D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7172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Out: Xmean (B,64,768); K,V (B,64,8,512)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30230-34F6-40EE-8408-1BFC5B6C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813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7105B-E583-45E0-B99A-1A65A279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05125"/>
            <a:ext cx="3810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Shared chunk context encoder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0533A-5F92-4FCB-8B35-4E595A2C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050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LayerNorm + Linear 768 to 512 + 2-layer Transformer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C4014-49CC-4341-8C5E-03FA378B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0512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In:  Xmean  (B,64,768)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0FC9B-A7B1-4EB5-9BCD-19ABD988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89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Out: H  (B,64,512)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E8F10-5974-4196-A9BE-0C545BDA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385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E32"/>
          </a:solidFill>
          <a:ln xmlns:a="http://schemas.openxmlformats.org/drawingml/2006/main" w="9525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B4E6C-86AF-44FA-907B-902EA44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62375"/>
            <a:ext cx="3810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7"/>
          </a:solidFill>
          <a:ln xmlns:a="http://schemas.openxmlformats.org/drawingml/2006/main" w="19050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3E32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C73E32"/>
                </a:solidFill>
                <a:latin typeface="Helvetica"/>
                <a:ea typeface="Helvetica"/>
                <a:cs typeface="Helvetica"/>
              </a:rPr>
              <a:t>Label-specific slot queries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DBE19-BABC-4FDF-9D98-BA95D42B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623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7"/>
          </a:solidFill>
          <a:ln xmlns:a="http://schemas.openxmlformats.org/drawingml/2006/main" w="19050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050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Static label-slot query + dynamic query from 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59310-749A-47D4-9F18-3D04A201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623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7"/>
          </a:solidFill>
          <a:ln xmlns:a="http://schemas.openxmlformats.org/drawingml/2006/main" w="19050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E32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C73E32"/>
                </a:solidFill>
                <a:latin typeface="Helvetica"/>
                <a:ea typeface="Helvetica"/>
                <a:cs typeface="Helvetica"/>
              </a:rPr>
              <a:t>In:  H + q(l,s)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AEE0B-097C-49E7-AF88-018860E6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8622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7"/>
          </a:solidFill>
          <a:ln xmlns:a="http://schemas.openxmlformats.org/drawingml/2006/main" w="19050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E32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C73E32"/>
                </a:solidFill>
                <a:latin typeface="Helvetica"/>
                <a:ea typeface="Helvetica"/>
                <a:cs typeface="Helvetica"/>
              </a:rPr>
              <a:t>Out: Q  (B,64,6,3,512)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165558-BCCB-4EC6-9EFC-0E3750A7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958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E32"/>
          </a:solidFill>
          <a:ln xmlns:a="http://schemas.openxmlformats.org/drawingml/2006/main" w="9525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4F53D6-8091-45AD-AC80-BD90358B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19625"/>
            <a:ext cx="3810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7"/>
          </a:solidFill>
          <a:ln xmlns:a="http://schemas.openxmlformats.org/drawingml/2006/main" w="19050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3E32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C73E32"/>
                </a:solidFill>
                <a:latin typeface="Helvetica"/>
                <a:ea typeface="Helvetica"/>
                <a:cs typeface="Helvetica"/>
              </a:rPr>
              <a:t>Label-conditioned view selection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DA27AE-FBBC-4DD3-BF36-05AA178C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7"/>
          </a:solidFill>
          <a:ln xmlns:a="http://schemas.openxmlformats.org/drawingml/2006/main" w="19050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050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QK transpose / sqrt(512) + softmax over 8 views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8D99F4-4862-4265-847A-AD32FD53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1962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7"/>
          </a:solidFill>
          <a:ln xmlns:a="http://schemas.openxmlformats.org/drawingml/2006/main" w="19050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E32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C73E32"/>
                </a:solidFill>
                <a:latin typeface="Helvetica"/>
                <a:ea typeface="Helvetica"/>
                <a:cs typeface="Helvetica"/>
              </a:rPr>
              <a:t>In:  Q,K  (...,512)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2087B0-9FF5-4E68-A47B-9134835C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434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7"/>
          </a:solidFill>
          <a:ln xmlns:a="http://schemas.openxmlformats.org/drawingml/2006/main" w="19050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E32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C73E32"/>
                </a:solidFill>
                <a:latin typeface="Helvetica"/>
                <a:ea typeface="Helvetica"/>
                <a:cs typeface="Helvetica"/>
              </a:rPr>
              <a:t>Out: Aview  (B,64,6,3,8)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C4C2BB-EF6F-4C3A-B26D-8CC8B181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530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7117"/>
          </a:solidFill>
          <a:ln xmlns:a="http://schemas.openxmlformats.org/drawingml/2006/main" w="9525">
            <a:solidFill>
              <a:srgbClr val="AC711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9B9AE4-5131-48F2-93CC-A2E5A19C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76875"/>
            <a:ext cx="3810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D9"/>
          </a:solidFill>
          <a:ln xmlns:a="http://schemas.openxmlformats.org/drawingml/2006/main" w="19050">
            <a:solidFill>
              <a:srgbClr val="AC711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C7117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AC7117"/>
                </a:solidFill>
                <a:latin typeface="Helvetica"/>
                <a:ea typeface="Helvetica"/>
                <a:cs typeface="Helvetica"/>
              </a:rPr>
              <a:t>View evidence fusion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C94800-5041-43CE-B659-7FF20748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768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D9"/>
          </a:solidFill>
          <a:ln xmlns:a="http://schemas.openxmlformats.org/drawingml/2006/main" w="19050">
            <a:solidFill>
              <a:srgbClr val="AC711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050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Weighted sum of V + residual scale gamma(l,s)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78622F-EC5D-41C9-BFE0-008C9E86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768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D9"/>
          </a:solidFill>
          <a:ln xmlns:a="http://schemas.openxmlformats.org/drawingml/2006/main" w="19050">
            <a:solidFill>
              <a:srgbClr val="AC711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C711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AC7117"/>
                </a:solidFill>
                <a:latin typeface="Helvetica"/>
                <a:ea typeface="Helvetica"/>
                <a:cs typeface="Helvetica"/>
              </a:rPr>
              <a:t>In:  Aview,V,H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7ADE1-9910-4E25-A113-8636FBF3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0072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D9"/>
          </a:solidFill>
          <a:ln xmlns:a="http://schemas.openxmlformats.org/drawingml/2006/main" w="19050">
            <a:solidFill>
              <a:srgbClr val="AC711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C711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AC7117"/>
                </a:solidFill>
                <a:latin typeface="Helvetica"/>
                <a:ea typeface="Helvetica"/>
                <a:cs typeface="Helvetica"/>
              </a:rPr>
              <a:t>Out: Echunk  (B,64,6,3,512)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4B4A45-7A1B-4F9C-8D01-FD3DA2D6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4103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E32"/>
          </a:solidFill>
          <a:ln xmlns:a="http://schemas.openxmlformats.org/drawingml/2006/main" w="9525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D7C60A-36E2-42F0-9AA8-787C3A23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34125"/>
            <a:ext cx="3810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7"/>
          </a:solidFill>
          <a:ln xmlns:a="http://schemas.openxmlformats.org/drawingml/2006/main" w="19050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3E32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C73E32"/>
                </a:solidFill>
                <a:latin typeface="Helvetica"/>
                <a:ea typeface="Helvetica"/>
                <a:cs typeface="Helvetica"/>
              </a:rPr>
              <a:t>Slot-wise chunk selection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96C59E-FDD9-4BEC-8576-4572C93D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3341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7"/>
          </a:solidFill>
          <a:ln xmlns:a="http://schemas.openxmlformats.org/drawingml/2006/main" w="19050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050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Score chunks + softmax over 64 chunks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73ABE9-EA9A-4139-96CE-B95570E1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3412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7"/>
          </a:solidFill>
          <a:ln xmlns:a="http://schemas.openxmlformats.org/drawingml/2006/main" w="19050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E32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C73E32"/>
                </a:solidFill>
                <a:latin typeface="Helvetica"/>
                <a:ea typeface="Helvetica"/>
                <a:cs typeface="Helvetica"/>
              </a:rPr>
              <a:t>In:  Echunk  (B,64,6,3,512)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ED8227-70A8-4D79-885A-04C380F2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579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7"/>
          </a:solidFill>
          <a:ln xmlns:a="http://schemas.openxmlformats.org/drawingml/2006/main" w="19050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E32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C73E32"/>
                </a:solidFill>
                <a:latin typeface="Helvetica"/>
                <a:ea typeface="Helvetica"/>
                <a:cs typeface="Helvetica"/>
              </a:rPr>
              <a:t>Out: Rslot  (B,6,3,512)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5BC54A-B200-4674-AEE7-DDD64111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2675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7117"/>
          </a:solidFill>
          <a:ln xmlns:a="http://schemas.openxmlformats.org/drawingml/2006/main" w="9525">
            <a:solidFill>
              <a:srgbClr val="AC711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F4DD84-3867-42CF-916E-B572B5DE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191375"/>
            <a:ext cx="3810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D9"/>
          </a:solidFill>
          <a:ln xmlns:a="http://schemas.openxmlformats.org/drawingml/2006/main" w="19050">
            <a:solidFill>
              <a:srgbClr val="AC711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C7117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AC7117"/>
                </a:solidFill>
                <a:latin typeface="Helvetica"/>
                <a:ea typeface="Helvetica"/>
                <a:cs typeface="Helvetica"/>
              </a:rPr>
              <a:t>Adaptive multi-slot fusion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20F800-93E4-434A-9ED9-D5A99DD6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71913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D9"/>
          </a:solidFill>
          <a:ln xmlns:a="http://schemas.openxmlformats.org/drawingml/2006/main" w="19050">
            <a:solidFill>
              <a:srgbClr val="AC711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050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Learned slot score + softmax over 3 slots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75CFD5-345C-4423-A6A0-496C4B2F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1913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D9"/>
          </a:solidFill>
          <a:ln xmlns:a="http://schemas.openxmlformats.org/drawingml/2006/main" w="19050">
            <a:solidFill>
              <a:srgbClr val="AC711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C711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AC7117"/>
                </a:solidFill>
                <a:latin typeface="Helvetica"/>
                <a:ea typeface="Helvetica"/>
                <a:cs typeface="Helvetica"/>
              </a:rPr>
              <a:t>In:  Rslot  (B,6,3,512)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C50A9E-224F-4296-B1C0-28C68296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51522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D9"/>
          </a:solidFill>
          <a:ln xmlns:a="http://schemas.openxmlformats.org/drawingml/2006/main" w="19050">
            <a:solidFill>
              <a:srgbClr val="AC711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C711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AC7117"/>
                </a:solidFill>
                <a:latin typeface="Helvetica"/>
                <a:ea typeface="Helvetica"/>
                <a:cs typeface="Helvetica"/>
              </a:rPr>
              <a:t>Out: Zlabel  (B,6,512)</a:t>
            </a:r>
          </a:p>
        </p:txBody>
      </p:sp>
      <p:cxnSp>
        <p:nvCxnSpPr>
          <p:cNvPr id="118" name=""/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857750" y="183832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1F"/>
            </a:solidFill>
            <a:prstDash val="solid"/>
            <a:tailEnd type="arrow" w="med" len="med"/>
          </a:ln>
        </p:spPr>
      </p:cxnSp>
      <p:cxnSp>
        <p:nvCxnSpPr>
          <p:cNvPr id="119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4857750" y="26955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87"/>
            </a:solidFill>
            <a:prstDash val="solid"/>
            <a:tailEnd type="arrow" w="med" len="med"/>
          </a:ln>
        </p:spPr>
      </p:cxnSp>
      <p:cxnSp>
        <p:nvCxnSpPr>
          <p:cNvPr id="120" name=""/>
          <p:cNvCxnSpPr>
            <a:stCxn xmlns:a="http://schemas.openxmlformats.org/drawingml/2006/main" id="15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4857750" y="355282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87"/>
            </a:solidFill>
            <a:prstDash val="solid"/>
            <a:tailEnd type="arrow" w="med" len="med"/>
          </a:ln>
        </p:spPr>
      </p:cxnSp>
      <p:cxnSp>
        <p:nvCxnSpPr>
          <p:cNvPr id="121" name=""/>
          <p:cNvCxnSpPr>
            <a:stCxn xmlns:a="http://schemas.openxmlformats.org/drawingml/2006/main" id="2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4857750" y="44100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3E32"/>
            </a:solidFill>
            <a:prstDash val="solid"/>
            <a:tailEnd type="arrow" w="med" len="med"/>
          </a:ln>
        </p:spPr>
      </p:cxnSp>
      <p:cxnSp>
        <p:nvCxnSpPr>
          <p:cNvPr id="122" name=""/>
          <p:cNvCxnSpPr>
            <a:stCxn xmlns:a="http://schemas.openxmlformats.org/drawingml/2006/main" id="25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4857750" y="526732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3E32"/>
            </a:solidFill>
            <a:prstDash val="solid"/>
            <a:tailEnd type="arrow" w="med" len="med"/>
          </a:ln>
        </p:spPr>
      </p:cxnSp>
      <p:cxnSp>
        <p:nvCxnSpPr>
          <p:cNvPr id="123" name=""/>
          <p:cNvCxnSpPr>
            <a:stCxn xmlns:a="http://schemas.openxmlformats.org/drawingml/2006/main" id="30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857750" y="61245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7117"/>
            </a:solidFill>
            <a:prstDash val="solid"/>
            <a:tailEnd type="arrow" w="med" len="med"/>
          </a:ln>
        </p:spPr>
      </p:cxnSp>
      <p:cxnSp>
        <p:nvCxnSpPr>
          <p:cNvPr id="124" name=""/>
          <p:cNvCxnSpPr>
            <a:stCxn xmlns:a="http://schemas.openxmlformats.org/drawingml/2006/main" id="35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4857750" y="698182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3E32"/>
            </a:solidFill>
            <a:prstDash val="solid"/>
            <a:tailEnd type="arrow" w="med" len="me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A7862B-7AAD-46EA-9403-F25EB353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8077200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Label-wise prediction heads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A58A4E-876C-40AE-A4A8-E7F9453D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839075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A1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9F24C9-8DCF-4C83-B6EB-5C4A6FED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8372475"/>
            <a:ext cx="1190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A1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C5FD80-4130-49A2-ABD6-CA24579C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05850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Reentrancy</a:t>
            </a:r>
          </a:p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MLP 512 to 256 to 1</a:t>
            </a:r>
          </a:p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(B,512) to (B,1)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40D9BC-E10C-47AC-9A48-4743D2FC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8" y="83724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A1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91BAEF-F093-4494-9869-2C08808F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8" y="94869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A1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CF9E73-178A-488E-AE69-B26338C2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705850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Access Control</a:t>
            </a:r>
          </a:p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MLP 512 to 256 to 1</a:t>
            </a:r>
          </a:p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(B,512) to (B,1)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1577ED-7B2B-481E-ABBF-04FC37B6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83724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A1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D038A8-588F-449F-BCA7-277F7CFF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94869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A1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F38390-08B9-4903-8875-1EEFA578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705850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Arithmetic</a:t>
            </a:r>
          </a:p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MLP 512 to 256 to 1</a:t>
            </a:r>
          </a:p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(B,512) to (B,1)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148450-C2CF-40D4-95AD-B67CE276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83724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A1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352317-253A-419E-8520-99188B02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94869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A1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459ED67-FE48-4BDD-89DC-CE942E52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705850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Unchecked Return</a:t>
            </a:r>
          </a:p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MLP 512 to 256 to 1</a:t>
            </a:r>
          </a:p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(B,512) to (B,1)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BC64182-B8FF-4449-82B3-78FE7401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83724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A1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6ECD33F-CA46-4EFA-9AE7-248A3B6C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94869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A1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372DAD-6849-483D-A260-D294D2CF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8705850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7"/>
          </a:solidFill>
          <a:ln xmlns:a="http://schemas.openxmlformats.org/drawingml/2006/main" w="19050">
            <a:solidFill>
              <a:srgbClr val="C73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3E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73E32"/>
                </a:solidFill>
                <a:latin typeface="Helvetica"/>
                <a:ea typeface="Helvetica"/>
                <a:cs typeface="Helvetica"/>
              </a:rPr>
              <a:t>DoS</a:t>
            </a:r>
          </a:p>
          <a:p xmlns:a="http://schemas.openxmlformats.org/drawingml/2006/main">
            <a:pPr algn="ctr">
              <a:defRPr sz="975" b="1">
                <a:solidFill>
                  <a:srgbClr val="C73E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73E32"/>
                </a:solidFill>
                <a:latin typeface="Helvetica"/>
                <a:ea typeface="Helvetica"/>
                <a:cs typeface="Helvetica"/>
              </a:rPr>
              <a:t>MLP 512 to 256 to 1</a:t>
            </a:r>
          </a:p>
          <a:p xmlns:a="http://schemas.openxmlformats.org/drawingml/2006/main">
            <a:pPr algn="ctr">
              <a:defRPr sz="975" b="1">
                <a:solidFill>
                  <a:srgbClr val="C73E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73E32"/>
                </a:solidFill>
                <a:latin typeface="Helvetica"/>
                <a:ea typeface="Helvetica"/>
                <a:cs typeface="Helvetica"/>
              </a:rPr>
              <a:t>(B,512) to (B,1)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9A8053-7CDC-42E4-84B3-DBD7B2D3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5688" y="83724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73E3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BC4CE9-4434-4561-AD1F-07900755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5688" y="94869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73E3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3C035C1-AA06-4FD9-B4E0-EBC478C4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705850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Time Manipulation</a:t>
            </a:r>
          </a:p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MLP 512 to 256 to 1</a:t>
            </a:r>
          </a:p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(B,512) to (B,1)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5D0802-4C0C-401D-B9E6-BC72080D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6938" y="83724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A1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CB21E9-BC5B-4593-91FD-A968455D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6938" y="94869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A1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D86E780-C03D-4D55-B0C2-0134AC44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9763125"/>
            <a:ext cx="1190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B8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F7ED60F-5640-4CD8-B830-E486CE9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953625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Multi-label output</a:t>
            </a:r>
          </a:p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Concatenate 6 logits + sigmoid</a:t>
            </a:r>
          </a:p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Out: probabilities (B,6)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6224030-7ADF-4873-8ECD-C33C32AE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76312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B8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3718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2026-09-08T13:06:41.4040000Z</dcterms:created>
  <dcterms:modified xsi:type="dcterms:W3CDTF">2026-09-08T13:06:41.4040000Z</dcterms:modified>
</coreProperties>
</file>